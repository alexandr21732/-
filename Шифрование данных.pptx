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2" r:id="rId6"/>
    <p:sldId id="264" r:id="rId7"/>
    <p:sldId id="265" r:id="rId14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AB080-A233-43FE-908A-868FDC2B977B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B607D-B612-45D1-B5DC-4D94A309F7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13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B607D-B612-45D1-B5DC-4D94A309F7E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019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FB607D-B612-45D1-B5DC-4D94A309F7E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07256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655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43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99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8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3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13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36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9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79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97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17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088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032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551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540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681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65373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7E6C284-F909-4BCD-9E98-7D8B30BA5069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9FBE3-8F7D-4D23-B65B-BFD948B460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486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9540" y="1272619"/>
            <a:ext cx="9648163" cy="2601798"/>
          </a:xfrm>
        </p:spPr>
        <p:txBody>
          <a:bodyPr/>
          <a:lstStyle/>
          <a:p>
            <a:pPr algn="ctr"/>
            <a:r>
              <a:rPr lang="ru-RU" dirty="0" smtClean="0"/>
              <a:t>Шифрование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492790" y="4903452"/>
            <a:ext cx="54200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 smtClean="0"/>
              <a:t xml:space="preserve">Проект </a:t>
            </a:r>
            <a:r>
              <a:rPr lang="ru-RU" sz="1600" dirty="0" smtClean="0"/>
              <a:t>подготовил: Жуль Александр, группа П-61,</a:t>
            </a:r>
          </a:p>
          <a:p>
            <a:pPr algn="r"/>
            <a:r>
              <a:rPr lang="ru-RU" sz="1600" dirty="0" smtClean="0"/>
              <a:t>Центр талантов г. Кемерово «Уникум</a:t>
            </a:r>
            <a:r>
              <a:rPr lang="ru-RU" dirty="0" smtClean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0090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0200000" cy="850000"/>
          </a:xfrm>
        </p:spPr>
        <p:txBody>
          <a:bodyPr/>
          <a:lstStyle/>
          <a:p>
            <a:r>
              <a:rPr lang="ru-RU" dirty="0" smtClean="0"/>
              <a:t>Роль шифрования данных. Цель проекта</a:t>
            </a:r>
            <a:endParaRPr lang="ru-RU" dirty="0"/>
          </a:p>
        </p:txBody>
      </p:sp>
      <p:sp>
        <p:nvSpPr>
          <p:cNvPr id="5" name="Определение"/>
          <p:cNvSpPr txBox="1">
            <a:spLocks/>
          </p:cNvSpPr>
          <p:nvPr/>
        </p:nvSpPr>
        <p:spPr>
          <a:xfrm>
            <a:off x="457200" y="1450000"/>
            <a:ext cx="11000000" cy="6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900" b="1" dirty="0"/>
              <a:t>Шифрование</a:t>
            </a:r>
            <a:r>
              <a:rPr lang="ru-RU" sz="1900" dirty="0"/>
              <a:t xml:space="preserve"> — преобразование читаемой информации в нечитаемую при помощи кодирования.</a:t>
            </a:r>
            <a:endParaRPr lang="ru-RU" sz="1900" dirty="0"/>
          </a:p>
        </p:txBody>
      </p:sp>
      <p:sp>
        <p:nvSpPr>
          <p:cNvPr id="3" name="Основные цели"/>
          <p:cNvSpPr>
            <a:spLocks noGrp="1"/>
          </p:cNvSpPr>
          <p:nvPr>
            <p:ph idx="1"/>
          </p:nvPr>
        </p:nvSpPr>
        <p:spPr>
          <a:xfrm>
            <a:off x="457200" y="2300000"/>
            <a:ext cx="11000000" cy="1500000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Основная цель шифрования данных — обеспечение конфиденциальности информации, то есть защита её от несанкционированного доступа, прочтения или кражи посторонними лицами.</a:t>
            </a:r>
            <a:endParaRPr lang="ru-RU" dirty="0"/>
          </a:p>
          <a:p>
            <a:r>
              <a:rPr lang="ru-RU" dirty="0" smtClean="0"/>
              <a:t>Это обеспечивает безопасность при хранении и передаче данных, гарантирует их целостность.</a:t>
            </a:r>
            <a:endParaRPr lang="ru-RU" dirty="0"/>
          </a:p>
        </p:txBody>
      </p:sp>
      <p:sp>
        <p:nvSpPr>
          <p:cNvPr id="4" name="ЦельПроекта"/>
          <p:cNvSpPr txBox="1">
            <a:spLocks/>
          </p:cNvSpPr>
          <p:nvPr/>
        </p:nvSpPr>
        <p:spPr>
          <a:xfrm>
            <a:off x="457200" y="3950000"/>
            <a:ext cx="11000000" cy="25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200" b="1" dirty="0"/>
              <a:t xml:space="preserve">Цель проекта </a:t>
            </a:r>
            <a:r>
              <a:rPr lang="ru-RU" sz="2200" dirty="0"/>
              <a:t>— на основе изучения основных методов и принципов шифрования данных реализовать собственный алгоритм защиты информации на основе шифра.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12014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6155704" cy="810705"/>
          </a:xfrm>
        </p:spPr>
        <p:txBody>
          <a:bodyPr/>
          <a:lstStyle/>
          <a:p>
            <a:r>
              <a:rPr lang="ru-RU" dirty="0" smtClean="0"/>
              <a:t>Задачи проекта: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3247" y="909843"/>
            <a:ext cx="8946541" cy="305255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Изучить историю шифрования;</a:t>
            </a:r>
          </a:p>
          <a:p>
            <a:r>
              <a:rPr lang="ru-RU" sz="2400" dirty="0" smtClean="0"/>
              <a:t>Изучить виды шифрования;</a:t>
            </a:r>
          </a:p>
          <a:p>
            <a:r>
              <a:rPr lang="ru-RU" sz="2400" dirty="0" smtClean="0"/>
              <a:t>Изучить аналоги, современные алгоритмы;</a:t>
            </a:r>
          </a:p>
          <a:p>
            <a:r>
              <a:rPr lang="ru-RU" sz="2400" dirty="0" smtClean="0"/>
              <a:t>Разработать собственный алгоритм защиты данных</a:t>
            </a:r>
            <a:r>
              <a:rPr lang="ru-RU" sz="2400" dirty="0"/>
              <a:t xml:space="preserve"> с помощью шифрования</a:t>
            </a:r>
            <a:r>
              <a:rPr lang="ru-RU" sz="2400" dirty="0" smtClean="0"/>
              <a:t xml:space="preserve"> и ключ к нему.  Доступ </a:t>
            </a:r>
            <a:r>
              <a:rPr lang="ru-RU" sz="2400" dirty="0"/>
              <a:t xml:space="preserve">к данным </a:t>
            </a:r>
            <a:r>
              <a:rPr lang="ru-RU" sz="2400" dirty="0" smtClean="0"/>
              <a:t xml:space="preserve">будут иметь </a:t>
            </a:r>
            <a:r>
              <a:rPr lang="ru-RU" sz="2400" dirty="0"/>
              <a:t>только авторизованные пользователи с ключом дешифрования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3946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0648180" cy="744718"/>
          </a:xfrm>
        </p:spPr>
        <p:txBody>
          <a:bodyPr/>
          <a:lstStyle/>
          <a:p>
            <a:r>
              <a:rPr lang="ru-RU" dirty="0" smtClean="0"/>
              <a:t>План-график реализации проекта: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1852"/>
              </p:ext>
            </p:extLst>
          </p:nvPr>
        </p:nvGraphicFramePr>
        <p:xfrm>
          <a:off x="103695" y="735616"/>
          <a:ext cx="11821213" cy="543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34">
                  <a:extLst>
                    <a:ext uri="{9D8B030D-6E8A-4147-A177-3AD203B41FA5}">
                      <a16:colId xmlns:a16="http://schemas.microsoft.com/office/drawing/2014/main" val="1389228763"/>
                    </a:ext>
                  </a:extLst>
                </a:gridCol>
                <a:gridCol w="4396995">
                  <a:extLst>
                    <a:ext uri="{9D8B030D-6E8A-4147-A177-3AD203B41FA5}">
                      <a16:colId xmlns:a16="http://schemas.microsoft.com/office/drawing/2014/main" val="1826415262"/>
                    </a:ext>
                  </a:extLst>
                </a:gridCol>
                <a:gridCol w="5351841">
                  <a:extLst>
                    <a:ext uri="{9D8B030D-6E8A-4147-A177-3AD203B41FA5}">
                      <a16:colId xmlns:a16="http://schemas.microsoft.com/office/drawing/2014/main" val="4152508545"/>
                    </a:ext>
                  </a:extLst>
                </a:gridCol>
                <a:gridCol w="1527143">
                  <a:extLst>
                    <a:ext uri="{9D8B030D-6E8A-4147-A177-3AD203B41FA5}">
                      <a16:colId xmlns:a16="http://schemas.microsoft.com/office/drawing/2014/main" val="394118072"/>
                    </a:ext>
                  </a:extLst>
                </a:gridCol>
              </a:tblGrid>
              <a:tr h="637425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№</a:t>
                      </a:r>
                    </a:p>
                    <a:p>
                      <a:r>
                        <a:rPr lang="ru-RU" sz="1400" dirty="0" smtClean="0"/>
                        <a:t>п/п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 этапа реализации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Основные задачи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Период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003182"/>
                  </a:ext>
                </a:extLst>
              </a:tr>
              <a:tr h="1414638">
                <a:tc>
                  <a:txBody>
                    <a:bodyPr/>
                    <a:lstStyle/>
                    <a:p>
                      <a:r>
                        <a:rPr lang="ru-RU" dirty="0" smtClean="0"/>
                        <a:t>1.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Изучение</a:t>
                      </a:r>
                      <a:r>
                        <a:rPr lang="ru-RU" baseline="0" dirty="0" smtClean="0"/>
                        <a:t xml:space="preserve"> истории шифрования, </a:t>
                      </a:r>
                      <a:r>
                        <a:rPr lang="ru-RU" dirty="0" smtClean="0"/>
                        <a:t>основных методов и принципов шифрования.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Изучить историю шифрования;</a:t>
                      </a:r>
                    </a:p>
                    <a:p>
                      <a:r>
                        <a:rPr lang="ru-RU" sz="1800" dirty="0" smtClean="0"/>
                        <a:t>Изучить виды шифрования;</a:t>
                      </a:r>
                    </a:p>
                    <a:p>
                      <a:r>
                        <a:rPr lang="ru-RU" sz="1800" dirty="0" smtClean="0"/>
                        <a:t>Изучить аналоги, современные алгоритмы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23.03.2026-25.03.2026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74663"/>
                  </a:ext>
                </a:extLst>
              </a:tr>
              <a:tr h="910607">
                <a:tc>
                  <a:txBody>
                    <a:bodyPr/>
                    <a:lstStyle/>
                    <a:p>
                      <a:r>
                        <a:rPr lang="ru-RU" dirty="0" smtClean="0"/>
                        <a:t>2.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Разработать</a:t>
                      </a:r>
                      <a:r>
                        <a:rPr lang="ru-RU" baseline="0" dirty="0" smtClean="0"/>
                        <a:t xml:space="preserve"> собственный шифр по кодированию информации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Придумать собственный алгоритм</a:t>
                      </a:r>
                      <a:r>
                        <a:rPr lang="ru-RU" baseline="0" dirty="0" smtClean="0"/>
                        <a:t xml:space="preserve"> шифрования букв, цифр, прочих символов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26.03.2026-31.03.2026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5918"/>
                  </a:ext>
                </a:extLst>
              </a:tr>
              <a:tr h="910607">
                <a:tc>
                  <a:txBody>
                    <a:bodyPr/>
                    <a:lstStyle/>
                    <a:p>
                      <a:r>
                        <a:rPr lang="ru-RU" dirty="0" smtClean="0"/>
                        <a:t>3.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Разработать программу шифрования и дешифрования текста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Прописать</a:t>
                      </a:r>
                      <a:r>
                        <a:rPr lang="ru-RU" baseline="0" dirty="0" smtClean="0"/>
                        <a:t xml:space="preserve"> алгоритм шифрования на языке программирования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01.04.2026-08.04.2026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070425"/>
                  </a:ext>
                </a:extLst>
              </a:tr>
              <a:tr h="637425">
                <a:tc>
                  <a:txBody>
                    <a:bodyPr/>
                    <a:lstStyle/>
                    <a:p>
                      <a:r>
                        <a:rPr lang="ru-RU" dirty="0" smtClean="0"/>
                        <a:t>4.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Анализ</a:t>
                      </a:r>
                      <a:r>
                        <a:rPr lang="ru-RU" baseline="0" dirty="0" smtClean="0"/>
                        <a:t xml:space="preserve"> экономической составляющей проекта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</a:t>
                      </a:r>
                      <a:r>
                        <a:rPr lang="ru-RU" baseline="0" dirty="0" smtClean="0"/>
                        <a:t xml:space="preserve"> затрат;</a:t>
                      </a:r>
                    </a:p>
                    <a:p>
                      <a:r>
                        <a:rPr lang="ru-RU" baseline="0" dirty="0" smtClean="0"/>
                        <a:t>Расчет доходов, прибыли.</a:t>
                      </a:r>
                    </a:p>
                    <a:p>
                      <a:r>
                        <a:rPr lang="ru-RU" baseline="0" dirty="0" smtClean="0"/>
                        <a:t>Расчет срока окупаемости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26.03.2026-10.04.2026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824320"/>
                  </a:ext>
                </a:extLst>
              </a:tr>
              <a:tr h="369302">
                <a:tc>
                  <a:txBody>
                    <a:bodyPr/>
                    <a:lstStyle/>
                    <a:p>
                      <a:r>
                        <a:rPr lang="ru-RU" dirty="0" smtClean="0"/>
                        <a:t>5.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Выводы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Подготовить основные выводы по результатам реализации</a:t>
                      </a:r>
                      <a:r>
                        <a:rPr lang="ru-RU" baseline="0" dirty="0" smtClean="0"/>
                        <a:t xml:space="preserve"> проекта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11.04.2026-12.04.2026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067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578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0"/>
            <a:ext cx="8908026" cy="894735"/>
          </a:xfrm>
        </p:spPr>
        <p:txBody>
          <a:bodyPr/>
          <a:lstStyle/>
          <a:p>
            <a:r>
              <a:rPr lang="ru-RU" dirty="0" smtClean="0"/>
              <a:t>Экономика проекта (1/2)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31989"/>
              </p:ext>
            </p:extLst>
          </p:nvPr>
        </p:nvGraphicFramePr>
        <p:xfrm>
          <a:off x="108154" y="737418"/>
          <a:ext cx="11864390" cy="56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898">
                  <a:extLst>
                    <a:ext uri="{9D8B030D-6E8A-4147-A177-3AD203B41FA5}">
                      <a16:colId xmlns:a16="http://schemas.microsoft.com/office/drawing/2014/main" val="2841636566"/>
                    </a:ext>
                  </a:extLst>
                </a:gridCol>
                <a:gridCol w="2638092">
                  <a:extLst>
                    <a:ext uri="{9D8B030D-6E8A-4147-A177-3AD203B41FA5}">
                      <a16:colId xmlns:a16="http://schemas.microsoft.com/office/drawing/2014/main" val="299214215"/>
                    </a:ext>
                  </a:extLst>
                </a:gridCol>
                <a:gridCol w="6534912">
                  <a:extLst>
                    <a:ext uri="{9D8B030D-6E8A-4147-A177-3AD203B41FA5}">
                      <a16:colId xmlns:a16="http://schemas.microsoft.com/office/drawing/2014/main" val="2026315056"/>
                    </a:ext>
                  </a:extLst>
                </a:gridCol>
                <a:gridCol w="1999488">
                  <a:extLst>
                    <a:ext uri="{9D8B030D-6E8A-4147-A177-3AD203B41FA5}">
                      <a16:colId xmlns:a16="http://schemas.microsoft.com/office/drawing/2014/main" val="1623313429"/>
                    </a:ext>
                  </a:extLst>
                </a:gridCol>
              </a:tblGrid>
              <a:tr h="636339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 xml:space="preserve">№ </a:t>
                      </a:r>
                      <a:r>
                        <a:rPr lang="ru-RU" sz="1400" dirty="0" err="1" smtClean="0"/>
                        <a:t>п.п</a:t>
                      </a:r>
                      <a:r>
                        <a:rPr lang="ru-RU" sz="1400" dirty="0" smtClean="0"/>
                        <a:t>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Статья расходов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Описание затрат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Затраты,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271856"/>
                  </a:ext>
                </a:extLst>
              </a:tr>
              <a:tr h="528195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Оборудование (компьютер, ноутбук).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Приобретение оборудования  (В случае</a:t>
                      </a:r>
                      <a:r>
                        <a:rPr lang="ru-RU" sz="1400" baseline="0" dirty="0" smtClean="0"/>
                        <a:t xml:space="preserve"> использования школьного оборудования затрат не будет)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55000</a:t>
                      </a:r>
                      <a:r>
                        <a:rPr lang="ru-RU" sz="1400" baseline="0" dirty="0" smtClean="0"/>
                        <a:t xml:space="preserve">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569065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Подключение к Интернет-провайдеру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Услуги связи и</a:t>
                      </a:r>
                      <a:r>
                        <a:rPr lang="ru-RU" sz="1400" baseline="0" dirty="0" smtClean="0"/>
                        <a:t xml:space="preserve"> интернета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1000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391618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Программное</a:t>
                      </a:r>
                      <a:r>
                        <a:rPr lang="ru-RU" sz="1400" baseline="0" dirty="0" smtClean="0"/>
                        <a:t xml:space="preserve"> обеспечение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Например,</a:t>
                      </a:r>
                      <a:r>
                        <a:rPr lang="ru-RU" sz="1400" baseline="0" dirty="0" smtClean="0"/>
                        <a:t xml:space="preserve"> </a:t>
                      </a:r>
                      <a:r>
                        <a:rPr lang="en-US" sz="1400" baseline="0" dirty="0" smtClean="0"/>
                        <a:t>Python</a:t>
                      </a:r>
                      <a:r>
                        <a:rPr lang="ru-RU" sz="1400" baseline="0" dirty="0" smtClean="0"/>
                        <a:t xml:space="preserve"> - бесплатно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 руб.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291854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4.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Бумага, услуги печати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Печать презентации, доклада (приблизительно</a:t>
                      </a:r>
                      <a:r>
                        <a:rPr lang="ru-RU" sz="1400" baseline="0" dirty="0" smtClean="0"/>
                        <a:t xml:space="preserve"> 25 страниц) 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 xml:space="preserve">250 </a:t>
                      </a:r>
                      <a:r>
                        <a:rPr lang="ru-RU" sz="1400" dirty="0" err="1" smtClean="0"/>
                        <a:t>руб</a:t>
                      </a:r>
                      <a:r>
                        <a:rPr lang="ru-RU" sz="1400" dirty="0" smtClean="0"/>
                        <a:t xml:space="preserve"> (=25*10 </a:t>
                      </a:r>
                      <a:r>
                        <a:rPr lang="ru-RU" sz="1400" dirty="0" err="1" smtClean="0"/>
                        <a:t>руб</a:t>
                      </a:r>
                      <a:r>
                        <a:rPr lang="ru-RU" sz="1400" dirty="0" smtClean="0"/>
                        <a:t>/лист)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5121665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5.</a:t>
                      </a:r>
                      <a:r>
                        <a:rPr lang="ru-RU" sz="1400" baseline="0" dirty="0" smtClean="0"/>
                        <a:t xml:space="preserve"> 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Трудозатраты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Время школьника на подготовку проекта,</a:t>
                      </a:r>
                      <a:r>
                        <a:rPr lang="ru-RU" sz="1400" baseline="0" dirty="0" smtClean="0"/>
                        <a:t xml:space="preserve"> изучение материала, написание кода (21 день,  2 часа в день).</a:t>
                      </a:r>
                    </a:p>
                    <a:p>
                      <a:endParaRPr lang="ru-R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Кемеровской области (Кузбасс) с учетом районного коэффициента 30% минимальная зарплата для работников (включая несовершеннолетних, работающих полную смену) составляет не менее </a:t>
                      </a:r>
                      <a:r>
                        <a:rPr lang="ru-RU" sz="1400" b="1" dirty="0" smtClean="0">
                          <a:effectLst/>
                        </a:rPr>
                        <a:t>35 220,9 руб.</a:t>
                      </a:r>
                      <a:r>
                        <a:rPr lang="ru-RU" sz="1400" dirty="0" smtClean="0"/>
                        <a:t> (для бюджетников)</a:t>
                      </a:r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</a:p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176 часов</a:t>
                      </a:r>
                      <a:r>
                        <a:rPr lang="ru-RU" sz="1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 xml:space="preserve"> – полное количество рабочих часов в месяц (22 рабочих дня, 8 часов/день)</a:t>
                      </a:r>
                      <a:endParaRPr lang="ru-R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Расчет: 35220,9/176*(21*2)=8404,9 руб.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8404,9</a:t>
                      </a:r>
                      <a:r>
                        <a:rPr lang="ru-RU" sz="1400" baseline="0" dirty="0" smtClean="0"/>
                        <a:t xml:space="preserve"> </a:t>
                      </a:r>
                      <a:r>
                        <a:rPr lang="ru-RU" sz="1400" baseline="0" dirty="0" err="1" smtClean="0"/>
                        <a:t>руб</a:t>
                      </a:r>
                      <a:endParaRPr lang="ru-RU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205797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dirty="0" smtClean="0"/>
                        <a:t>ИТОГО:</a:t>
                      </a:r>
                      <a:endParaRPr lang="ru-RU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/>
                        <a:t>64654,9 руб.</a:t>
                      </a:r>
                      <a:endParaRPr lang="ru-RU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907165"/>
                  </a:ext>
                </a:extLst>
              </a:tr>
              <a:tr h="36867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 smtClean="0"/>
                        <a:t>Без учета покупки оборудования:</a:t>
                      </a:r>
                      <a:endParaRPr lang="ru-RU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 smtClean="0"/>
                        <a:t>9654,9 руб.</a:t>
                      </a:r>
                      <a:endParaRPr lang="ru-RU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322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54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0"/>
            <a:ext cx="8908026" cy="894735"/>
          </a:xfrm>
        </p:spPr>
        <p:txBody>
          <a:bodyPr/>
          <a:lstStyle/>
          <a:p>
            <a:r>
              <a:rPr lang="ru-RU" dirty="0" smtClean="0"/>
              <a:t>Экономика проекта (2/2)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2786"/>
              </p:ext>
            </p:extLst>
          </p:nvPr>
        </p:nvGraphicFramePr>
        <p:xfrm>
          <a:off x="144730" y="894735"/>
          <a:ext cx="11925349" cy="228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12">
                  <a:extLst>
                    <a:ext uri="{9D8B030D-6E8A-4147-A177-3AD203B41FA5}">
                      <a16:colId xmlns:a16="http://schemas.microsoft.com/office/drawing/2014/main" val="2841636566"/>
                    </a:ext>
                  </a:extLst>
                </a:gridCol>
                <a:gridCol w="3189101">
                  <a:extLst>
                    <a:ext uri="{9D8B030D-6E8A-4147-A177-3AD203B41FA5}">
                      <a16:colId xmlns:a16="http://schemas.microsoft.com/office/drawing/2014/main" val="299214215"/>
                    </a:ext>
                  </a:extLst>
                </a:gridCol>
                <a:gridCol w="7899836">
                  <a:extLst>
                    <a:ext uri="{9D8B030D-6E8A-4147-A177-3AD203B41FA5}">
                      <a16:colId xmlns:a16="http://schemas.microsoft.com/office/drawing/2014/main" val="2026315056"/>
                    </a:ext>
                  </a:extLst>
                </a:gridCol>
              </a:tblGrid>
              <a:tr h="71235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 xml:space="preserve">№ </a:t>
                      </a:r>
                      <a:r>
                        <a:rPr lang="ru-RU" sz="1400" dirty="0" err="1" smtClean="0"/>
                        <a:t>п.п</a:t>
                      </a:r>
                      <a:r>
                        <a:rPr lang="ru-RU" sz="1400" dirty="0" smtClean="0"/>
                        <a:t>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Выгоды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 xml:space="preserve">Описание </a:t>
                      </a:r>
                      <a:endParaRPr lang="ru-RU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271856"/>
                  </a:ext>
                </a:extLst>
              </a:tr>
              <a:tr h="81890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Прямые выгоды: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Защита информации;</a:t>
                      </a:r>
                    </a:p>
                    <a:p>
                      <a:r>
                        <a:rPr lang="ru-RU" sz="1400" dirty="0" smtClean="0"/>
                        <a:t>Защита</a:t>
                      </a:r>
                      <a:r>
                        <a:rPr lang="ru-RU" sz="1400" baseline="0" dirty="0" smtClean="0"/>
                        <a:t xml:space="preserve"> персональных данных;</a:t>
                      </a:r>
                    </a:p>
                    <a:p>
                      <a:r>
                        <a:rPr lang="ru-RU" sz="1400" baseline="0" dirty="0" smtClean="0"/>
                        <a:t>В случае кражи, информация останется недоступной.</a:t>
                      </a:r>
                      <a:endParaRPr lang="ru-RU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569065"/>
                  </a:ext>
                </a:extLst>
              </a:tr>
              <a:tr h="41271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Косвенные выгоды: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Повышение грамотности школьника;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391618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3.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Финансовая выгода: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Возможность продать</a:t>
                      </a:r>
                      <a:r>
                        <a:rPr lang="ru-RU" sz="1400" baseline="0" dirty="0" smtClean="0"/>
                        <a:t xml:space="preserve"> продукт сверстникам для защиты личных данных.</a:t>
                      </a:r>
                      <a:endParaRPr lang="ru-RU" sz="1400" baseline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291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63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766916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000000"/>
            <a:ext cx="11000000" cy="5600000"/>
          </a:xfrm>
        </p:spPr>
        <p:txBody>
          <a:bodyPr>
            <a:normAutofit/>
          </a:bodyPr>
          <a:lstStyle/>
          <a:p>
            <a:r>
              <a:rPr lang="ru-RU" dirty="0"/>
              <a:t>К шифрованию информации прибегали с древних времен;</a:t>
            </a:r>
          </a:p>
          <a:p>
            <a:r>
              <a:rPr lang="ru-RU" dirty="0"/>
              <a:t>RSA — один из надёжнейших современных алгоритмов шифрования;</a:t>
            </a:r>
          </a:p>
          <a:p>
            <a:r>
              <a:rPr lang="ru-RU" dirty="0"/>
              <a:t>Разработана программа на Python с использованием RSA-2048 и защитой OAEP + SHA-256;</a:t>
            </a:r>
          </a:p>
          <a:p>
            <a:r>
              <a:rPr lang="ru-RU" dirty="0"/>
              <a:t>Без закрытого ключа расшифровать данные невозможно — защита гарантирована математически;</a:t>
            </a:r>
          </a:p>
          <a:p>
            <a:r>
              <a:rPr lang="ru-RU" dirty="0"/>
              <a:t>Минимальные затраты, состоящие в основном из времени и усилий ученика.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0200000" cy="850000"/>
          </a:xfrm>
        </p:spPr>
        <p:txBody>
          <a:bodyPr/>
          <a:lstStyle/>
          <a:p>
            <a:r>
              <a:rPr lang="ru-RU" dirty="0"/>
              <a:t>Реализация алгоритма RSA на Python</a:t>
            </a:r>
          </a:p>
        </p:txBody>
      </p:sp>
      <p:sp>
        <p:nvSpPr>
          <p:cNvPr id="3" name="TechBox"/>
          <p:cNvSpPr txBox="1">
            <a:spLocks/>
          </p:cNvSpPr>
          <p:nvPr/>
        </p:nvSpPr>
        <p:spPr>
          <a:xfrm>
            <a:off x="457200" y="1500000"/>
            <a:ext cx="11000000" cy="6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900" b="1" dirty="0"/>
              <a:t xml:space="preserve">Технологии: </a:t>
            </a:r>
            <a:r>
              <a:rPr lang="ru-RU" sz="1800" dirty="0"/>
              <a:t>Python 3 + библиотека cryptography | RSA-2048 | OAEP + SHA-256 | Base64</a:t>
            </a:r>
          </a:p>
        </p:txBody>
      </p:sp>
      <p:sp>
        <p:nvSpPr>
          <p:cNvPr id="4" name="LeftBlock"/>
          <p:cNvSpPr txBox="1">
            <a:spLocks/>
          </p:cNvSpPr>
          <p:nvPr/>
        </p:nvSpPr>
        <p:spPr>
          <a:xfrm>
            <a:off x="457200" y="2350000"/>
            <a:ext cx="5300000" cy="4100000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r>
              <a:rPr lang="ru-RU" sz="1800" b="1" dirty="0"/>
              <a:t>Функции программы:</a:t>
            </a:r>
          </a:p>
          <a:p>
            <a:endParaRPr lang="ru-RU" sz="800" dirty="0"/>
          </a:p>
          <a:p>
            <a:r>
              <a:rPr lang="ru-RU" sz="1600" b="1" dirty="0"/>
              <a:t>generate_keys()</a:t>
            </a:r>
          </a:p>
          <a:p>
            <a:r>
              <a:rPr lang="ru-RU" sz="1500" dirty="0"/>
              <a:t>Генерация пары ключей RSA-2048</a:t>
            </a:r>
          </a:p>
          <a:p>
            <a:endParaRPr lang="ru-RU" sz="800" dirty="0"/>
          </a:p>
          <a:p>
            <a:r>
              <a:rPr lang="ru-RU" sz="1600" b="1" dirty="0"/>
              <a:t>encrypt_data(public_key, message)</a:t>
            </a:r>
          </a:p>
          <a:p>
            <a:r>
              <a:rPr lang="ru-RU" sz="1500" dirty="0"/>
              <a:t>Шифрование открытым ключом с OAEP</a:t>
            </a:r>
          </a:p>
          <a:p>
            <a:endParaRPr lang="ru-RU" sz="800" dirty="0"/>
          </a:p>
          <a:p>
            <a:r>
              <a:rPr lang="ru-RU" sz="1600" b="1" dirty="0"/>
              <a:t>decrypt_data(private_key, ciphertext)</a:t>
            </a:r>
          </a:p>
          <a:p>
            <a:r>
              <a:rPr lang="ru-RU" sz="1500" dirty="0"/>
              <a:t>Расшифрование закрытым ключом</a:t>
            </a:r>
          </a:p>
          <a:p>
            <a:endParaRPr lang="ru-RU" sz="800" dirty="0"/>
          </a:p>
          <a:p>
            <a:r>
              <a:rPr lang="ru-RU" sz="1600" b="1" dirty="0"/>
              <a:t>main()</a:t>
            </a:r>
          </a:p>
          <a:p>
            <a:r>
              <a:rPr lang="ru-RU" sz="1500" dirty="0"/>
              <a:t>Меню пользователя: генерация / шифрование / расшифрование</a:t>
            </a:r>
          </a:p>
        </p:txBody>
      </p:sp>
      <p:sp>
        <p:nvSpPr>
          <p:cNvPr id="5" name="RightBlock"/>
          <p:cNvSpPr txBox="1">
            <a:spLocks/>
          </p:cNvSpPr>
          <p:nvPr/>
        </p:nvSpPr>
        <p:spPr>
          <a:xfrm>
            <a:off x="5957200" y="2350000"/>
            <a:ext cx="5500000" cy="4100000"/>
          </a:xfrm>
          <a:prstGeom prst="rect">
            <a:avLst/>
          </a:prstGeom>
          <a:solidFill>
            <a:srgbClr val="1a3a3a"/>
          </a:solidFill>
          <a:ln>
            <a:solidFill>
              <a:schemeClr val="accent1"/>
            </a:solidFill>
          </a:ln>
        </p:spPr>
        <p:txBody>
          <a:bodyPr vert="horz" lIns="91440" tIns="91440" rIns="91440" bIns="91440" rtlCol="0">
            <a:normAutofit/>
          </a:bodyPr>
          <a:lstStyle/>
          <a:p>
            <a:r>
              <a:rPr lang="ru-RU" sz="1800" b="1" dirty="0"/>
              <a:t>Как работает:</a:t>
            </a:r>
          </a:p>
          <a:p>
            <a:endParaRPr lang="ru-RU" sz="800" dirty="0"/>
          </a:p>
          <a:p>
            <a:r>
              <a:rPr lang="ru-RU" sz="1500" dirty="0"/>
              <a:t>1. Пользователь генерирует ключи (2048 бит)</a:t>
            </a:r>
          </a:p>
          <a:p>
            <a:endParaRPr lang="ru-RU" sz="400" dirty="0"/>
          </a:p>
          <a:p>
            <a:r>
              <a:rPr lang="ru-RU" sz="1500" dirty="0"/>
              <a:t>2. Вводит текст для шифрования</a:t>
            </a:r>
          </a:p>
          <a:p>
            <a:endParaRPr lang="ru-RU" sz="400" dirty="0"/>
          </a:p>
          <a:p>
            <a:r>
              <a:rPr lang="ru-RU" sz="1500" dirty="0"/>
              <a:t>3. Программа шифрует открытым ключом и выводит результат в Base64</a:t>
            </a:r>
          </a:p>
          <a:p>
            <a:endParaRPr lang="ru-RU" sz="400" dirty="0"/>
          </a:p>
          <a:p>
            <a:r>
              <a:rPr lang="ru-RU" sz="1500" dirty="0"/>
              <a:t>4. Для расшифрования нужен закрытый ключ</a:t>
            </a:r>
          </a:p>
          <a:p>
            <a:endParaRPr lang="ru-RU" sz="1200" dirty="0"/>
          </a:p>
          <a:p>
            <a:r>
              <a:rPr lang="ru-RU" sz="1800" b="1" dirty="0"/>
              <a:t>Защита:</a:t>
            </a:r>
          </a:p>
          <a:p>
            <a:endParaRPr lang="ru-RU" sz="400" dirty="0"/>
          </a:p>
          <a:p>
            <a:r>
              <a:rPr lang="ru-RU" sz="1500" dirty="0"/>
              <a:t>• RSA-2048: взлом займёт миллиарды лет</a:t>
            </a:r>
          </a:p>
          <a:p>
            <a:r>
              <a:rPr lang="ru-RU" sz="1500" dirty="0"/>
              <a:t>• OAEP: защита от атак подбором</a:t>
            </a:r>
          </a:p>
          <a:p>
            <a:r>
              <a:rPr lang="ru-RU" sz="1500" dirty="0"/>
              <a:t>• Без закрытого ключа данные недоступны</a:t>
            </a:r>
          </a:p>
        </p:txBody>
      </p:sp>
    </p:spTree>
  </p:cSld>
  <p:clrMapOvr>
    <a:masterClrMapping/>
  </p:clrMapOvr>
</p:sld>
</file>

<file path=ppt/theme/_rels/theme1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2977</TotalTime>
  <Words>455</Words>
  <Application>Microsoft Office PowerPoint</Application>
  <PresentationFormat>Широкоэкранный</PresentationFormat>
  <Paragraphs>98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Ион</vt:lpstr>
      <vt:lpstr>Шифрование данных</vt:lpstr>
      <vt:lpstr>Роль шифрования данных. Цель проекта</vt:lpstr>
      <vt:lpstr>Задачи проекта:</vt:lpstr>
      <vt:lpstr>План-график реализации проекта:</vt:lpstr>
      <vt:lpstr>Экономика проекта (1/2)</vt:lpstr>
      <vt:lpstr>Экономика проекта (2/2)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Шифрование данных</dc:title>
  <dc:creator>Admin</dc:creator>
  <cp:lastModifiedBy>Admin</cp:lastModifiedBy>
  <cp:revision>21</cp:revision>
  <dcterms:created xsi:type="dcterms:W3CDTF">2026-03-22T13:00:53Z</dcterms:created>
  <dcterms:modified xsi:type="dcterms:W3CDTF">2026-03-24T14:38:16Z</dcterms:modified>
</cp:coreProperties>
</file>