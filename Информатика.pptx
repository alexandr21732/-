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"/>
  </p:notesMasterIdLst>
  <p:sldIdLst>
    <p:sldId id="256" r:id="rId2"/>
    <p:sldId id="257" r:id="rId3"/>
    <p:sldId id="259" r:id="rId4"/>
    <p:sldId id="261" r:id="rId5"/>
    <p:sldId id="262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AB080-A233-43FE-908A-868FDC2B977B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B607D-B612-45D1-B5DC-4D94A309F7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139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FB607D-B612-45D1-B5DC-4D94A309F7E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019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FB607D-B612-45D1-B5DC-4D94A309F7E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072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655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436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99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8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3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13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36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9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79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977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17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088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032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551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540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681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65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486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9540" y="1272619"/>
            <a:ext cx="9648163" cy="2601798"/>
          </a:xfrm>
        </p:spPr>
        <p:txBody>
          <a:bodyPr/>
          <a:lstStyle/>
          <a:p>
            <a:pPr algn="ctr"/>
            <a:r>
              <a:rPr lang="ru-RU" dirty="0" smtClean="0"/>
              <a:t>Шифрование данных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492790" y="4903452"/>
            <a:ext cx="54200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dirty="0" smtClean="0"/>
              <a:t>Проект </a:t>
            </a:r>
            <a:r>
              <a:rPr lang="ru-RU" sz="1600" dirty="0" smtClean="0"/>
              <a:t>подготовил: Жуль Александр, группа П-61,</a:t>
            </a:r>
          </a:p>
          <a:p>
            <a:pPr algn="r"/>
            <a:r>
              <a:rPr lang="ru-RU" sz="1600" dirty="0" smtClean="0"/>
              <a:t>Центр талантов г. Кемерово «Уникум</a:t>
            </a:r>
            <a:r>
              <a:rPr lang="ru-RU" dirty="0" smtClean="0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0090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1382491" cy="961535"/>
          </a:xfrm>
        </p:spPr>
        <p:txBody>
          <a:bodyPr/>
          <a:lstStyle/>
          <a:p>
            <a:r>
              <a:rPr lang="ru-RU" dirty="0" smtClean="0"/>
              <a:t>Роль шифрования данных. Цель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7662" y="2000057"/>
            <a:ext cx="11510129" cy="2535809"/>
          </a:xfrm>
        </p:spPr>
        <p:txBody>
          <a:bodyPr>
            <a:normAutofit/>
          </a:bodyPr>
          <a:lstStyle/>
          <a:p>
            <a:r>
              <a:rPr lang="ru-RU" dirty="0" smtClean="0"/>
              <a:t>Основная </a:t>
            </a:r>
            <a:r>
              <a:rPr lang="ru-RU" dirty="0"/>
              <a:t>цель шифрования данных </a:t>
            </a:r>
            <a:r>
              <a:rPr lang="ru-RU" dirty="0" smtClean="0"/>
              <a:t>—обеспечение</a:t>
            </a:r>
            <a:r>
              <a:rPr lang="ru-RU" dirty="0"/>
              <a:t> </a:t>
            </a:r>
            <a:r>
              <a:rPr lang="ru-RU" dirty="0" smtClean="0"/>
              <a:t>конфиденциальности</a:t>
            </a:r>
            <a:r>
              <a:rPr lang="ru-RU" dirty="0"/>
              <a:t> информации, то есть защита ее от несанкционированного доступа, прочтения или кражи посторонними лицами</a:t>
            </a:r>
            <a:r>
              <a:rPr lang="ru-RU" dirty="0" smtClean="0"/>
              <a:t>.</a:t>
            </a:r>
            <a:r>
              <a:rPr lang="ru-RU" sz="1800" dirty="0"/>
              <a:t> </a:t>
            </a:r>
            <a:endParaRPr lang="ru-RU" sz="1800" dirty="0"/>
          </a:p>
          <a:p>
            <a:r>
              <a:rPr lang="ru-RU" dirty="0" smtClean="0"/>
              <a:t>Это </a:t>
            </a:r>
            <a:r>
              <a:rPr lang="ru-RU" dirty="0"/>
              <a:t>обеспечивает безопасность при хранении и передаче данных, гарантирует их </a:t>
            </a:r>
            <a:r>
              <a:rPr lang="ru-RU" dirty="0" smtClean="0"/>
              <a:t>целостность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256094" y="4535866"/>
            <a:ext cx="11510129" cy="2535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u-RU" sz="2400" b="1" dirty="0" smtClean="0"/>
              <a:t>Цель проекта </a:t>
            </a:r>
            <a:r>
              <a:rPr lang="ru-RU" sz="2400" dirty="0" smtClean="0"/>
              <a:t>— на основе изучения основных методов и принципов шифрования данных, реализовать собственный алгоритм защиты информации на основе шифра.</a:t>
            </a:r>
            <a:endParaRPr lang="ru-RU" sz="2400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216713" y="961535"/>
            <a:ext cx="11709816" cy="8476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u-RU" sz="2400" b="1" dirty="0" smtClean="0"/>
              <a:t>Шифрование</a:t>
            </a:r>
            <a:r>
              <a:rPr lang="ru-RU" sz="2400" dirty="0" smtClean="0"/>
              <a:t> — это преобразования читаемой информации в нечитаемую при помощи кодирования.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2014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6155704" cy="810705"/>
          </a:xfrm>
        </p:spPr>
        <p:txBody>
          <a:bodyPr/>
          <a:lstStyle/>
          <a:p>
            <a:r>
              <a:rPr lang="ru-RU" dirty="0" smtClean="0"/>
              <a:t>Задачи проекта: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3247" y="909843"/>
            <a:ext cx="8946541" cy="305255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Изучить историю шифрования;</a:t>
            </a:r>
          </a:p>
          <a:p>
            <a:r>
              <a:rPr lang="ru-RU" sz="2400" dirty="0" smtClean="0"/>
              <a:t>Изучить виды шифрования;</a:t>
            </a:r>
          </a:p>
          <a:p>
            <a:r>
              <a:rPr lang="ru-RU" sz="2400" dirty="0" smtClean="0"/>
              <a:t>Изучить аналоги, современные алгоритмы;</a:t>
            </a:r>
          </a:p>
          <a:p>
            <a:r>
              <a:rPr lang="ru-RU" sz="2400" dirty="0" smtClean="0"/>
              <a:t>Разработать собственный алгоритм защиты данных</a:t>
            </a:r>
            <a:r>
              <a:rPr lang="ru-RU" sz="2400" dirty="0"/>
              <a:t> с помощью шифрования</a:t>
            </a:r>
            <a:r>
              <a:rPr lang="ru-RU" sz="2400" dirty="0" smtClean="0"/>
              <a:t> и ключ к нему.  Доступ </a:t>
            </a:r>
            <a:r>
              <a:rPr lang="ru-RU" sz="2400" dirty="0"/>
              <a:t>к данным </a:t>
            </a:r>
            <a:r>
              <a:rPr lang="ru-RU" sz="2400" dirty="0" smtClean="0"/>
              <a:t>будут имеют </a:t>
            </a:r>
            <a:r>
              <a:rPr lang="ru-RU" sz="2400" dirty="0"/>
              <a:t>только авторизованные пользователи с ключом дешифрования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3946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0648180" cy="744718"/>
          </a:xfrm>
        </p:spPr>
        <p:txBody>
          <a:bodyPr/>
          <a:lstStyle/>
          <a:p>
            <a:r>
              <a:rPr lang="ru-RU" dirty="0" smtClean="0"/>
              <a:t>План-график реализации проекта: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1852"/>
              </p:ext>
            </p:extLst>
          </p:nvPr>
        </p:nvGraphicFramePr>
        <p:xfrm>
          <a:off x="103695" y="735616"/>
          <a:ext cx="11821213" cy="543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34">
                  <a:extLst>
                    <a:ext uri="{9D8B030D-6E8A-4147-A177-3AD203B41FA5}">
                      <a16:colId xmlns:a16="http://schemas.microsoft.com/office/drawing/2014/main" val="1389228763"/>
                    </a:ext>
                  </a:extLst>
                </a:gridCol>
                <a:gridCol w="4396995">
                  <a:extLst>
                    <a:ext uri="{9D8B030D-6E8A-4147-A177-3AD203B41FA5}">
                      <a16:colId xmlns:a16="http://schemas.microsoft.com/office/drawing/2014/main" val="1826415262"/>
                    </a:ext>
                  </a:extLst>
                </a:gridCol>
                <a:gridCol w="5351841">
                  <a:extLst>
                    <a:ext uri="{9D8B030D-6E8A-4147-A177-3AD203B41FA5}">
                      <a16:colId xmlns:a16="http://schemas.microsoft.com/office/drawing/2014/main" val="4152508545"/>
                    </a:ext>
                  </a:extLst>
                </a:gridCol>
                <a:gridCol w="1527143">
                  <a:extLst>
                    <a:ext uri="{9D8B030D-6E8A-4147-A177-3AD203B41FA5}">
                      <a16:colId xmlns:a16="http://schemas.microsoft.com/office/drawing/2014/main" val="394118072"/>
                    </a:ext>
                  </a:extLst>
                </a:gridCol>
              </a:tblGrid>
              <a:tr h="637425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№</a:t>
                      </a:r>
                    </a:p>
                    <a:p>
                      <a:r>
                        <a:rPr lang="ru-RU" sz="1400" dirty="0" smtClean="0"/>
                        <a:t>п/п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Наименование этапа реализации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Основные задачи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Период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2003182"/>
                  </a:ext>
                </a:extLst>
              </a:tr>
              <a:tr h="1414638">
                <a:tc>
                  <a:txBody>
                    <a:bodyPr/>
                    <a:lstStyle/>
                    <a:p>
                      <a:r>
                        <a:rPr lang="ru-RU" dirty="0" smtClean="0"/>
                        <a:t>1.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Изучение</a:t>
                      </a:r>
                      <a:r>
                        <a:rPr lang="ru-RU" baseline="0" dirty="0" smtClean="0"/>
                        <a:t> истории шифрования, </a:t>
                      </a:r>
                      <a:r>
                        <a:rPr lang="ru-RU" dirty="0" smtClean="0"/>
                        <a:t>основных методов и принципов шифрования.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Изучить историю шифрования;</a:t>
                      </a:r>
                    </a:p>
                    <a:p>
                      <a:r>
                        <a:rPr lang="ru-RU" sz="1800" dirty="0" smtClean="0"/>
                        <a:t>Изучить виды шифрования;</a:t>
                      </a:r>
                    </a:p>
                    <a:p>
                      <a:r>
                        <a:rPr lang="ru-RU" sz="1800" dirty="0" smtClean="0"/>
                        <a:t>Изучить аналоги, современные алгоритмы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23.03.2026-25.03.2026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74663"/>
                  </a:ext>
                </a:extLst>
              </a:tr>
              <a:tr h="910607">
                <a:tc>
                  <a:txBody>
                    <a:bodyPr/>
                    <a:lstStyle/>
                    <a:p>
                      <a:r>
                        <a:rPr lang="ru-RU" dirty="0" smtClean="0"/>
                        <a:t>2.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Разработать</a:t>
                      </a:r>
                      <a:r>
                        <a:rPr lang="ru-RU" baseline="0" dirty="0" smtClean="0"/>
                        <a:t> собственный шифр по кодированию информации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Придумать собственный алгоритм</a:t>
                      </a:r>
                      <a:r>
                        <a:rPr lang="ru-RU" baseline="0" dirty="0" smtClean="0"/>
                        <a:t> шифрования букв, цифр, прочих символов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26.03.2026-31.03.2026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5918"/>
                  </a:ext>
                </a:extLst>
              </a:tr>
              <a:tr h="910607">
                <a:tc>
                  <a:txBody>
                    <a:bodyPr/>
                    <a:lstStyle/>
                    <a:p>
                      <a:r>
                        <a:rPr lang="ru-RU" dirty="0" smtClean="0"/>
                        <a:t>3.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Разработать программу шифрования и дешифрования текста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Прописать</a:t>
                      </a:r>
                      <a:r>
                        <a:rPr lang="ru-RU" baseline="0" dirty="0" smtClean="0"/>
                        <a:t> алгоритм шифрования на языке программирования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01.04.2026-08.04.2026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070425"/>
                  </a:ext>
                </a:extLst>
              </a:tr>
              <a:tr h="637425">
                <a:tc>
                  <a:txBody>
                    <a:bodyPr/>
                    <a:lstStyle/>
                    <a:p>
                      <a:r>
                        <a:rPr lang="ru-RU" dirty="0" smtClean="0"/>
                        <a:t>4.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Анализ</a:t>
                      </a:r>
                      <a:r>
                        <a:rPr lang="ru-RU" baseline="0" dirty="0" smtClean="0"/>
                        <a:t> экономической составляющей проекта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</a:t>
                      </a:r>
                      <a:r>
                        <a:rPr lang="ru-RU" baseline="0" dirty="0" smtClean="0"/>
                        <a:t> затрат;</a:t>
                      </a:r>
                    </a:p>
                    <a:p>
                      <a:r>
                        <a:rPr lang="ru-RU" baseline="0" dirty="0" smtClean="0"/>
                        <a:t>Расчет доходов, прибыли.</a:t>
                      </a:r>
                    </a:p>
                    <a:p>
                      <a:r>
                        <a:rPr lang="ru-RU" baseline="0" dirty="0" smtClean="0"/>
                        <a:t>Расчет срока окупаемости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26.03.2026-10.04.2026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824320"/>
                  </a:ext>
                </a:extLst>
              </a:tr>
              <a:tr h="369302">
                <a:tc>
                  <a:txBody>
                    <a:bodyPr/>
                    <a:lstStyle/>
                    <a:p>
                      <a:r>
                        <a:rPr lang="ru-RU" dirty="0" smtClean="0"/>
                        <a:t>5.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Выводы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Подготовить основные выводы по результатам реализации</a:t>
                      </a:r>
                      <a:r>
                        <a:rPr lang="ru-RU" baseline="0" dirty="0" smtClean="0"/>
                        <a:t> проекта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11.04.2026-12.04.2026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06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578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0"/>
            <a:ext cx="8908026" cy="894735"/>
          </a:xfrm>
        </p:spPr>
        <p:txBody>
          <a:bodyPr/>
          <a:lstStyle/>
          <a:p>
            <a:r>
              <a:rPr lang="ru-RU" dirty="0" smtClean="0"/>
              <a:t>Экономика проекта (1/2)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431989"/>
              </p:ext>
            </p:extLst>
          </p:nvPr>
        </p:nvGraphicFramePr>
        <p:xfrm>
          <a:off x="108154" y="737418"/>
          <a:ext cx="11864390" cy="56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898">
                  <a:extLst>
                    <a:ext uri="{9D8B030D-6E8A-4147-A177-3AD203B41FA5}">
                      <a16:colId xmlns:a16="http://schemas.microsoft.com/office/drawing/2014/main" val="2841636566"/>
                    </a:ext>
                  </a:extLst>
                </a:gridCol>
                <a:gridCol w="2638092">
                  <a:extLst>
                    <a:ext uri="{9D8B030D-6E8A-4147-A177-3AD203B41FA5}">
                      <a16:colId xmlns:a16="http://schemas.microsoft.com/office/drawing/2014/main" val="299214215"/>
                    </a:ext>
                  </a:extLst>
                </a:gridCol>
                <a:gridCol w="6534912">
                  <a:extLst>
                    <a:ext uri="{9D8B030D-6E8A-4147-A177-3AD203B41FA5}">
                      <a16:colId xmlns:a16="http://schemas.microsoft.com/office/drawing/2014/main" val="2026315056"/>
                    </a:ext>
                  </a:extLst>
                </a:gridCol>
                <a:gridCol w="1999488">
                  <a:extLst>
                    <a:ext uri="{9D8B030D-6E8A-4147-A177-3AD203B41FA5}">
                      <a16:colId xmlns:a16="http://schemas.microsoft.com/office/drawing/2014/main" val="1623313429"/>
                    </a:ext>
                  </a:extLst>
                </a:gridCol>
              </a:tblGrid>
              <a:tr h="636339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№ </a:t>
                      </a:r>
                      <a:r>
                        <a:rPr lang="ru-RU" sz="1400" dirty="0" err="1" smtClean="0"/>
                        <a:t>п.п</a:t>
                      </a:r>
                      <a:r>
                        <a:rPr lang="ru-RU" sz="1400" dirty="0" smtClean="0"/>
                        <a:t>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Статья расходов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Описание затрат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Затраты, руб.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271856"/>
                  </a:ext>
                </a:extLst>
              </a:tr>
              <a:tr h="528195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Оборудование (компьютер, ноутбук).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Приобретение оборудования  (В случае</a:t>
                      </a:r>
                      <a:r>
                        <a:rPr lang="ru-RU" sz="1400" baseline="0" dirty="0" smtClean="0"/>
                        <a:t> использования школьного оборудования затрат не будет)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55000</a:t>
                      </a:r>
                      <a:r>
                        <a:rPr lang="ru-RU" sz="1400" baseline="0" dirty="0" smtClean="0"/>
                        <a:t> руб.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569065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Подключение к Интернет-провайдеру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Услуги связи и</a:t>
                      </a:r>
                      <a:r>
                        <a:rPr lang="ru-RU" sz="1400" baseline="0" dirty="0" smtClean="0"/>
                        <a:t> интернета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 руб.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391618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Программное</a:t>
                      </a:r>
                      <a:r>
                        <a:rPr lang="ru-RU" sz="1400" baseline="0" dirty="0" smtClean="0"/>
                        <a:t> обеспечение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Например,</a:t>
                      </a:r>
                      <a:r>
                        <a:rPr lang="ru-RU" sz="1400" baseline="0" dirty="0" smtClean="0"/>
                        <a:t> </a:t>
                      </a:r>
                      <a:r>
                        <a:rPr lang="en-US" sz="1400" baseline="0" dirty="0" smtClean="0"/>
                        <a:t>Python</a:t>
                      </a:r>
                      <a:r>
                        <a:rPr lang="ru-RU" sz="1400" baseline="0" dirty="0" smtClean="0"/>
                        <a:t> - бесплатно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0 руб.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291854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4.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Бумага, услуги печати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Печать презентации, доклада (приблизительно</a:t>
                      </a:r>
                      <a:r>
                        <a:rPr lang="ru-RU" sz="1400" baseline="0" dirty="0" smtClean="0"/>
                        <a:t> 25 страниц) 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250 </a:t>
                      </a:r>
                      <a:r>
                        <a:rPr lang="ru-RU" sz="1400" dirty="0" err="1" smtClean="0"/>
                        <a:t>руб</a:t>
                      </a:r>
                      <a:r>
                        <a:rPr lang="ru-RU" sz="1400" dirty="0" smtClean="0"/>
                        <a:t> (=25*10 </a:t>
                      </a:r>
                      <a:r>
                        <a:rPr lang="ru-RU" sz="1400" dirty="0" err="1" smtClean="0"/>
                        <a:t>руб</a:t>
                      </a:r>
                      <a:r>
                        <a:rPr lang="ru-RU" sz="1400" dirty="0" smtClean="0"/>
                        <a:t>/лист)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5121665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5.</a:t>
                      </a:r>
                      <a:r>
                        <a:rPr lang="ru-RU" sz="1400" baseline="0" dirty="0" smtClean="0"/>
                        <a:t> 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Трудозатраты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Время школьника на подготовку проекта,</a:t>
                      </a:r>
                      <a:r>
                        <a:rPr lang="ru-RU" sz="1400" baseline="0" dirty="0" smtClean="0"/>
                        <a:t> изучение материала, написание кода (21 день,  2 часа в день).</a:t>
                      </a:r>
                    </a:p>
                    <a:p>
                      <a:endParaRPr lang="ru-RU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Кемеровской области (Кузбасс) с учетом районного коэффициента 30% минимальная зарплата для работников (включая несовершеннолетних, работающих полную смену) составляет не менее </a:t>
                      </a:r>
                      <a:r>
                        <a:rPr lang="ru-RU" sz="1400" b="1" dirty="0" smtClean="0">
                          <a:effectLst/>
                        </a:rPr>
                        <a:t>35 220,9 руб.</a:t>
                      </a:r>
                      <a:r>
                        <a:rPr lang="ru-RU" sz="1400" dirty="0" smtClean="0"/>
                        <a:t> (для бюджетников)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176 часов</a:t>
                      </a:r>
                      <a:r>
                        <a:rPr lang="ru-RU" sz="14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полное количество рабочих часов в месяц (22 рабочих дня, 8 часов/день)</a:t>
                      </a:r>
                      <a:endParaRPr lang="ru-RU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Расчет: 35220,9/176*(21*2)=8404,9 руб.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8404,9</a:t>
                      </a:r>
                      <a:r>
                        <a:rPr lang="ru-RU" sz="1400" baseline="0" dirty="0" smtClean="0"/>
                        <a:t> </a:t>
                      </a:r>
                      <a:r>
                        <a:rPr lang="ru-RU" sz="1400" baseline="0" dirty="0" err="1" smtClean="0"/>
                        <a:t>руб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205797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 smtClean="0"/>
                        <a:t>ИТОГО:</a:t>
                      </a:r>
                      <a:endParaRPr lang="ru-RU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64654,9 руб.</a:t>
                      </a:r>
                      <a:endParaRPr lang="ru-RU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907165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 smtClean="0"/>
                        <a:t>Без учета покупки оборудования:</a:t>
                      </a:r>
                      <a:endParaRPr lang="ru-RU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 smtClean="0"/>
                        <a:t>9654,9 руб.</a:t>
                      </a:r>
                      <a:endParaRPr lang="ru-RU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322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54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0"/>
            <a:ext cx="8908026" cy="894735"/>
          </a:xfrm>
        </p:spPr>
        <p:txBody>
          <a:bodyPr/>
          <a:lstStyle/>
          <a:p>
            <a:r>
              <a:rPr lang="ru-RU" dirty="0" smtClean="0"/>
              <a:t>Экономика проекта (2/2)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12786"/>
              </p:ext>
            </p:extLst>
          </p:nvPr>
        </p:nvGraphicFramePr>
        <p:xfrm>
          <a:off x="144730" y="894735"/>
          <a:ext cx="11925349" cy="228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12">
                  <a:extLst>
                    <a:ext uri="{9D8B030D-6E8A-4147-A177-3AD203B41FA5}">
                      <a16:colId xmlns:a16="http://schemas.microsoft.com/office/drawing/2014/main" val="2841636566"/>
                    </a:ext>
                  </a:extLst>
                </a:gridCol>
                <a:gridCol w="3189101">
                  <a:extLst>
                    <a:ext uri="{9D8B030D-6E8A-4147-A177-3AD203B41FA5}">
                      <a16:colId xmlns:a16="http://schemas.microsoft.com/office/drawing/2014/main" val="299214215"/>
                    </a:ext>
                  </a:extLst>
                </a:gridCol>
                <a:gridCol w="7899836">
                  <a:extLst>
                    <a:ext uri="{9D8B030D-6E8A-4147-A177-3AD203B41FA5}">
                      <a16:colId xmlns:a16="http://schemas.microsoft.com/office/drawing/2014/main" val="2026315056"/>
                    </a:ext>
                  </a:extLst>
                </a:gridCol>
              </a:tblGrid>
              <a:tr h="71235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№ </a:t>
                      </a:r>
                      <a:r>
                        <a:rPr lang="ru-RU" sz="1400" dirty="0" err="1" smtClean="0"/>
                        <a:t>п.п</a:t>
                      </a:r>
                      <a:r>
                        <a:rPr lang="ru-RU" sz="1400" dirty="0" smtClean="0"/>
                        <a:t>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Выгоды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Описание </a:t>
                      </a:r>
                      <a:endParaRPr lang="ru-RU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271856"/>
                  </a:ext>
                </a:extLst>
              </a:tr>
              <a:tr h="81890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Прямые выгоды: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Защита информации;</a:t>
                      </a:r>
                    </a:p>
                    <a:p>
                      <a:r>
                        <a:rPr lang="ru-RU" sz="1400" dirty="0" smtClean="0"/>
                        <a:t>Защита</a:t>
                      </a:r>
                      <a:r>
                        <a:rPr lang="ru-RU" sz="1400" baseline="0" dirty="0" smtClean="0"/>
                        <a:t> персональных данных;</a:t>
                      </a:r>
                    </a:p>
                    <a:p>
                      <a:r>
                        <a:rPr lang="ru-RU" sz="1400" baseline="0" dirty="0" smtClean="0"/>
                        <a:t>В случае кражи, информация останется недоступной.</a:t>
                      </a:r>
                      <a:endParaRPr lang="ru-RU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569065"/>
                  </a:ext>
                </a:extLst>
              </a:tr>
              <a:tr h="41271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Косвенные выгоды: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Повышение грамотности школьника;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391618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Финансовая выгода: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Возможность продать</a:t>
                      </a:r>
                      <a:r>
                        <a:rPr lang="ru-RU" sz="1400" baseline="0" dirty="0" smtClean="0"/>
                        <a:t> продукт сверстникам для защиты личных данных.</a:t>
                      </a:r>
                      <a:endParaRPr lang="ru-RU" sz="1400" baseline="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291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63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766916"/>
          </a:xfrm>
        </p:spPr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304302" y="766916"/>
            <a:ext cx="11510129" cy="2535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u-RU" dirty="0" smtClean="0"/>
              <a:t>К шифрованию информации прибегали с древних времен;</a:t>
            </a:r>
          </a:p>
          <a:p>
            <a:r>
              <a:rPr lang="ru-RU" dirty="0" smtClean="0"/>
              <a:t>Шифрование </a:t>
            </a:r>
            <a:r>
              <a:rPr lang="ru-RU" dirty="0"/>
              <a:t>позволяет защитить данные;</a:t>
            </a:r>
          </a:p>
          <a:p>
            <a:r>
              <a:rPr lang="ru-RU" dirty="0" smtClean="0"/>
              <a:t>Своевременное предупреждение риска хищения данных, так как злоумышленнику придется потратить время на подбор ключа;</a:t>
            </a:r>
          </a:p>
          <a:p>
            <a:r>
              <a:rPr lang="ru-RU" dirty="0" smtClean="0"/>
              <a:t>Минимальные затраты, состоящие , в основном, из времени и усилий ученика.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02780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2977</TotalTime>
  <Words>455</Words>
  <Application>Microsoft Office PowerPoint</Application>
  <PresentationFormat>Широкоэкранный</PresentationFormat>
  <Paragraphs>98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Ион</vt:lpstr>
      <vt:lpstr>Шифрование данных</vt:lpstr>
      <vt:lpstr>Роль шифрования данных. Цель проекта</vt:lpstr>
      <vt:lpstr>Задачи проекта:</vt:lpstr>
      <vt:lpstr>План-график реализации проекта:</vt:lpstr>
      <vt:lpstr>Экономика проекта (1/2)</vt:lpstr>
      <vt:lpstr>Экономика проекта (2/2)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Шифрование данных</dc:title>
  <dc:creator>Admin</dc:creator>
  <cp:lastModifiedBy>Admin</cp:lastModifiedBy>
  <cp:revision>21</cp:revision>
  <dcterms:created xsi:type="dcterms:W3CDTF">2026-03-22T13:00:53Z</dcterms:created>
  <dcterms:modified xsi:type="dcterms:W3CDTF">2026-03-24T14:38:16Z</dcterms:modified>
</cp:coreProperties>
</file>